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Aptos"/>
              </a:rPr>
              <a:t>Для перемещения страницы щёлкните мышью</a:t>
            </a: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762DD0-96B6-45A0-A26D-F2CA0ABE466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102827-0EBC-4E40-B396-55ADB484A8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EB9C1-5105-43BA-AB5D-A511A9954D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06E846-8E57-4A98-B8D7-AA5FAB9AC6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DA36E6-85B8-420B-AE9D-FB2F9FB954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D6CA8C-9B45-48F8-930C-D28688D501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45FC5-93AF-415F-98DA-BD793EBD71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340E0A-B245-4E9D-BE82-E2DCE3DE76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17DFE-D522-4885-94DD-553F9E255E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94619-7A37-404B-8DF8-41D9219E42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810641-B939-403C-BA3D-11C33D8A20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531301-6037-4374-A230-F96B573760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B85330-E6BB-4135-98CD-349089F4A6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E1C4FCD-8A96-4F2A-9E29-1D149CEE8FC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Aptos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ptos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Aptos"/>
              </a:rPr>
              <a:t>Второй уровень структуры</a:t>
            </a:r>
            <a:endParaRPr b="0" lang="ru-RU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Третий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Четвёртый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82080"/>
          </a:xfrm>
          <a:prstGeom prst="rect">
            <a:avLst/>
          </a:prstGeom>
          <a:solidFill>
            <a:srgbClr val="1c6c70"/>
          </a:solidFill>
          <a:ln w="12700">
            <a:solidFill>
              <a:srgbClr val="1c6c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519600"/>
            <a:ext cx="3200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d8790"/>
                </a:solidFill>
                <a:latin typeface="Aptos"/>
                <a:ea typeface="Aptos"/>
              </a:rPr>
              <a:t>SAMSON Hospital · 2026</a:t>
            </a:r>
            <a:endParaRPr b="0" lang="ru-RU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99720" y="6519600"/>
            <a:ext cx="776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1a8ae"/>
                </a:solidFill>
                <a:latin typeface="Aptos"/>
                <a:ea typeface="Aptos"/>
              </a:rPr>
              <a:t>portfolio</a:t>
            </a:r>
            <a:endParaRPr b="0" lang="ru-RU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FA7A1D3-0F9F-49B5-ACA0-31052F52ED4F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Aptos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ptos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Aptos"/>
              </a:rPr>
              <a:t>Второй уровень структуры</a:t>
            </a:r>
            <a:endParaRPr b="0" lang="ru-RU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Третий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Четвёртый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3702960" cy="6857640"/>
          </a:xfrm>
          <a:prstGeom prst="rect">
            <a:avLst/>
          </a:prstGeom>
          <a:solidFill>
            <a:srgbClr val="155d62"/>
          </a:solidFill>
          <a:ln w="12700">
            <a:solidFill>
              <a:srgbClr val="155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67000" y="777240"/>
            <a:ext cx="2605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SAMSON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Hospital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67000" y="196596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af4f4"/>
                </a:solidFill>
                <a:latin typeface="Aptos"/>
              </a:rPr>
              <a:t>Мобильное рабочее место врача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67000" y="2578680"/>
            <a:ext cx="25783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cbe0e1"/>
                </a:solidFill>
                <a:latin typeface="Aptos"/>
              </a:rPr>
              <a:t>Проектирование, full-stack разработка и интеграция с медицинской информационной системой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67000" y="4078080"/>
            <a:ext cx="1773000" cy="241920"/>
          </a:xfrm>
          <a:prstGeom prst="roundRect">
            <a:avLst>
              <a:gd name="adj" fmla="val 21429"/>
            </a:avLst>
          </a:prstGeom>
          <a:solidFill>
            <a:srgbClr val="2b7478"/>
          </a:solidFill>
          <a:ln w="12700">
            <a:solidFill>
              <a:srgbClr val="2b74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4128480"/>
            <a:ext cx="1699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fffff"/>
                </a:solidFill>
                <a:latin typeface="Aptos"/>
              </a:rPr>
              <a:t>Kotlin · Jetpack Compose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567000" y="4407480"/>
            <a:ext cx="1773000" cy="272520"/>
          </a:xfrm>
          <a:prstGeom prst="roundRect">
            <a:avLst>
              <a:gd name="adj" fmla="val 21429"/>
            </a:avLst>
          </a:prstGeom>
          <a:solidFill>
            <a:srgbClr val="2b7478"/>
          </a:solidFill>
          <a:ln w="12700">
            <a:solidFill>
              <a:srgbClr val="2b74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0080" y="4457880"/>
            <a:ext cx="1096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fffff"/>
                </a:solidFill>
                <a:latin typeface="Aptos"/>
              </a:rPr>
              <a:t>Python · Django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567000" y="4736520"/>
            <a:ext cx="1773000" cy="303480"/>
          </a:xfrm>
          <a:prstGeom prst="roundRect">
            <a:avLst>
              <a:gd name="adj" fmla="val 21429"/>
            </a:avLst>
          </a:prstGeom>
          <a:solidFill>
            <a:srgbClr val="2b7478"/>
          </a:solidFill>
          <a:ln w="12700">
            <a:solidFill>
              <a:srgbClr val="2b74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0080" y="4786920"/>
            <a:ext cx="1161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fffff"/>
                </a:solidFill>
                <a:latin typeface="Aptos"/>
              </a:rPr>
              <a:t>MySQL / MariaDB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567000" y="59893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bd1d2"/>
                </a:solidFill>
                <a:latin typeface="Aptos"/>
                <a:ea typeface="Microsoft YaHei"/>
              </a:rPr>
              <a:t>Закрытый медицинский контур </a:t>
            </a:r>
            <a:r>
              <a:rPr b="0" lang="en-US" sz="950" spc="-1" strike="noStrike">
                <a:solidFill>
                  <a:srgbClr val="74808b"/>
                </a:solidFill>
                <a:latin typeface="Aptos"/>
              </a:rPr>
              <a:t>· 2026</a:t>
            </a:r>
            <a:r>
              <a:rPr b="0" lang="en-US" sz="900" spc="-1" strike="noStrike">
                <a:solidFill>
                  <a:srgbClr val="bbd1d2"/>
                </a:solidFill>
                <a:latin typeface="Aptos"/>
              </a:rPr>
              <a:t> 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4160520" y="567000"/>
            <a:ext cx="2541600" cy="566892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15120" dir="2700000" dist="12218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Image 0" descr="/mnt/data/oldppt/ppt/media/image14.png"/>
          <p:cNvPicPr/>
          <p:nvPr/>
        </p:nvPicPr>
        <p:blipFill>
          <a:blip r:embed="rId1"/>
          <a:stretch/>
        </p:blipFill>
        <p:spPr>
          <a:xfrm>
            <a:off x="4270320" y="875160"/>
            <a:ext cx="2322360" cy="5052960"/>
          </a:xfrm>
          <a:prstGeom prst="rect">
            <a:avLst/>
          </a:prstGeom>
          <a:ln w="0">
            <a:noFill/>
          </a:ln>
        </p:spPr>
      </p:pic>
      <p:sp>
        <p:nvSpPr>
          <p:cNvPr id="27" name="Shape 12"/>
          <p:cNvSpPr/>
          <p:nvPr/>
        </p:nvSpPr>
        <p:spPr>
          <a:xfrm>
            <a:off x="4233600" y="5925240"/>
            <a:ext cx="23954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4306680" y="5952600"/>
            <a:ext cx="2248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Меню пациента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976800" y="877680"/>
            <a:ext cx="2541600" cy="530316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193547880" dir="0" dist="16129008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Image 1" descr="/mnt/data/image(20261002-072403).png"/>
          <p:cNvPicPr/>
          <p:nvPr/>
        </p:nvPicPr>
        <p:blipFill>
          <a:blip r:embed="rId2"/>
          <a:stretch/>
        </p:blipFill>
        <p:spPr>
          <a:xfrm>
            <a:off x="7086600" y="1665000"/>
            <a:ext cx="2322360" cy="3729240"/>
          </a:xfrm>
          <a:prstGeom prst="rect">
            <a:avLst/>
          </a:prstGeom>
          <a:ln w="0">
            <a:noFill/>
          </a:ln>
        </p:spPr>
      </p:pic>
      <p:sp>
        <p:nvSpPr>
          <p:cNvPr id="31" name="Shape 15"/>
          <p:cNvSpPr/>
          <p:nvPr/>
        </p:nvSpPr>
        <p:spPr>
          <a:xfrm>
            <a:off x="7049880" y="5870520"/>
            <a:ext cx="23954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7123320" y="5897880"/>
            <a:ext cx="2248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Лечение и назначения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9765720" y="1234440"/>
            <a:ext cx="1919880" cy="4251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Image 2" descr="/mnt/data/image(20261014-044210).png"/>
          <p:cNvPicPr/>
          <p:nvPr/>
        </p:nvPicPr>
        <p:blipFill>
          <a:blip r:embed="rId3"/>
          <a:stretch/>
        </p:blipFill>
        <p:spPr>
          <a:xfrm>
            <a:off x="9857160" y="2620080"/>
            <a:ext cx="1737000" cy="1480680"/>
          </a:xfrm>
          <a:prstGeom prst="rect">
            <a:avLst/>
          </a:prstGeom>
          <a:ln w="0">
            <a:noFill/>
          </a:ln>
        </p:spPr>
      </p:pic>
      <p:sp>
        <p:nvSpPr>
          <p:cNvPr id="35" name="Shape 18"/>
          <p:cNvSpPr/>
          <p:nvPr/>
        </p:nvSpPr>
        <p:spPr>
          <a:xfrm>
            <a:off x="9838800" y="5175360"/>
            <a:ext cx="177372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9912240" y="520308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Динамические формы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9857160" y="58978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Продукт и пользовательский сценарий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Мобильный клиент дополняет существующую МИС и сокращает количество переходов между рабочими экранами.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2891160" y="1315440"/>
            <a:ext cx="1608840" cy="33645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Image 0" descr="/mnt/data/oldppt/ppt/media/image11.png"/>
          <p:cNvPicPr/>
          <p:nvPr/>
        </p:nvPicPr>
        <p:blipFill>
          <a:blip r:embed="rId1"/>
          <a:stretch/>
        </p:blipFill>
        <p:spPr>
          <a:xfrm>
            <a:off x="3060000" y="1458720"/>
            <a:ext cx="1425960" cy="881280"/>
          </a:xfrm>
          <a:prstGeom prst="rect">
            <a:avLst/>
          </a:prstGeom>
          <a:ln w="0">
            <a:noFill/>
          </a:ln>
        </p:spPr>
      </p:pic>
      <p:sp>
        <p:nvSpPr>
          <p:cNvPr id="42" name="Shape 3"/>
          <p:cNvSpPr/>
          <p:nvPr/>
        </p:nvSpPr>
        <p:spPr>
          <a:xfrm>
            <a:off x="2913840" y="2462760"/>
            <a:ext cx="14626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3060000" y="2520000"/>
            <a:ext cx="1316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Авторизация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4702680" y="2880000"/>
            <a:ext cx="1608840" cy="18000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 1" descr="/mnt/data/oldppt/ppt/media/image12.png"/>
          <p:cNvPicPr/>
          <p:nvPr/>
        </p:nvPicPr>
        <p:blipFill>
          <a:blip r:embed="rId2"/>
          <a:stretch/>
        </p:blipFill>
        <p:spPr>
          <a:xfrm>
            <a:off x="4860000" y="3060000"/>
            <a:ext cx="1425960" cy="1018440"/>
          </a:xfrm>
          <a:prstGeom prst="rect">
            <a:avLst/>
          </a:prstGeom>
          <a:ln w="0">
            <a:noFill/>
          </a:ln>
        </p:spPr>
      </p:pic>
      <p:sp>
        <p:nvSpPr>
          <p:cNvPr id="46" name="Shape 6"/>
          <p:cNvSpPr/>
          <p:nvPr/>
        </p:nvSpPr>
        <p:spPr>
          <a:xfrm>
            <a:off x="4860000" y="4174200"/>
            <a:ext cx="113652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4860000" y="4174200"/>
            <a:ext cx="1316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Рабочий профиль / отделение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4702680" y="1298520"/>
            <a:ext cx="1608840" cy="13701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Image 2" descr="/mnt/data/oldppt/ppt/media/image13.png"/>
          <p:cNvPicPr/>
          <p:nvPr/>
        </p:nvPicPr>
        <p:blipFill>
          <a:blip r:embed="rId3"/>
          <a:stretch/>
        </p:blipFill>
        <p:spPr>
          <a:xfrm>
            <a:off x="4877280" y="1440000"/>
            <a:ext cx="1425960" cy="781200"/>
          </a:xfrm>
          <a:prstGeom prst="rect">
            <a:avLst/>
          </a:prstGeom>
          <a:ln w="0">
            <a:noFill/>
          </a:ln>
        </p:spPr>
      </p:pic>
      <p:sp>
        <p:nvSpPr>
          <p:cNvPr id="50" name="Shape 9"/>
          <p:cNvSpPr/>
          <p:nvPr/>
        </p:nvSpPr>
        <p:spPr>
          <a:xfrm>
            <a:off x="4837320" y="2340000"/>
            <a:ext cx="14626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5040000" y="2431440"/>
            <a:ext cx="108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Пациенты отделения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6584040" y="1298520"/>
            <a:ext cx="1608840" cy="33645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Image 3" descr="/mnt/data/oldppt/ppt/media/image14.png"/>
          <p:cNvPicPr/>
          <p:nvPr/>
        </p:nvPicPr>
        <p:blipFill>
          <a:blip r:embed="rId4"/>
          <a:stretch/>
        </p:blipFill>
        <p:spPr>
          <a:xfrm>
            <a:off x="6767280" y="1429200"/>
            <a:ext cx="1425960" cy="3103200"/>
          </a:xfrm>
          <a:prstGeom prst="rect">
            <a:avLst/>
          </a:prstGeom>
          <a:ln w="0">
            <a:noFill/>
          </a:ln>
        </p:spPr>
      </p:pic>
      <p:sp>
        <p:nvSpPr>
          <p:cNvPr id="54" name="Shape 12"/>
          <p:cNvSpPr/>
          <p:nvPr/>
        </p:nvSpPr>
        <p:spPr>
          <a:xfrm>
            <a:off x="6730200" y="4745520"/>
            <a:ext cx="14626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6783480" y="4714200"/>
            <a:ext cx="1316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Карточка пациента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8192880" y="1325880"/>
            <a:ext cx="360" cy="4526280"/>
          </a:xfrm>
          <a:prstGeom prst="line">
            <a:avLst/>
          </a:prstGeom>
          <a:ln w="15240">
            <a:solidFill>
              <a:srgbClr val="d7d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8503920" y="129852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Основные задачи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8503920" y="1719000"/>
            <a:ext cx="288000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быстрый доступ к пациентам отделения и текущему обращению;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дневники, анализы, диагностика, лечение и мероприятия в едином мобильном интерфейсе;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интеграция с действующей МИС без изменения её базовой схемы;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конфигурация доступных сценариев и справочников на стороне backend.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8503920" y="4316040"/>
            <a:ext cx="2880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6c70"/>
                </a:solidFill>
                <a:latin typeface="Aptos"/>
              </a:rPr>
              <a:t>Пользовательский путь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8503920" y="4663440"/>
            <a:ext cx="2880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Aptos"/>
              </a:rPr>
              <a:t>вход → выбор рабочего профиля → отделение → пациент → клинический модуль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8503920" y="5596200"/>
            <a:ext cx="2880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80" spc="-1" strike="noStrike">
                <a:solidFill>
                  <a:srgbClr val="74808b"/>
                </a:solidFill>
                <a:latin typeface="Aptos"/>
              </a:rPr>
              <a:t>Интерфейс развивался итерационно; в презентации использованы обезличенные экраны разных рабочих редакций.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5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048BB7B-4ABC-4AE2-9795-3D9FA3B9367E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540000" y="1260000"/>
            <a:ext cx="2160000" cy="45000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Image 4" descr="/mnt/data/pptx_extract/ppt/media/image57.png"/>
          <p:cNvPicPr/>
          <p:nvPr/>
        </p:nvPicPr>
        <p:blipFill>
          <a:blip r:embed="rId5"/>
          <a:stretch/>
        </p:blipFill>
        <p:spPr>
          <a:xfrm>
            <a:off x="540000" y="1260000"/>
            <a:ext cx="2101680" cy="443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Архитектура и интеграция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Backend выступает адаптером между мобильным клиентом и legacy-структурой МИС.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658440" y="1828800"/>
            <a:ext cx="2239920" cy="1416960"/>
          </a:xfrm>
          <a:prstGeom prst="roundRect">
            <a:avLst>
              <a:gd name="adj" fmla="val 3871"/>
            </a:avLst>
          </a:prstGeom>
          <a:solidFill>
            <a:srgbClr val="e7f2f2"/>
          </a:solidFill>
          <a:ln w="12700">
            <a:solidFill>
              <a:srgbClr val="d6df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822960" y="2039040"/>
            <a:ext cx="191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Android client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822960" y="2468880"/>
            <a:ext cx="1910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Kotlin · Jetpack Compose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Navigation · Retrofit/OkHttp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2999160" y="2304360"/>
            <a:ext cx="365400" cy="438480"/>
          </a:xfrm>
          <a:prstGeom prst="chevron">
            <a:avLst>
              <a:gd name="adj" fmla="val 50000"/>
            </a:avLst>
          </a:prstGeom>
          <a:solidFill>
            <a:srgbClr val="aab8c0"/>
          </a:solidFill>
          <a:ln w="12700">
            <a:solidFill>
              <a:srgbClr val="aab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6"/>
          <p:cNvSpPr/>
          <p:nvPr/>
        </p:nvSpPr>
        <p:spPr>
          <a:xfrm>
            <a:off x="3246120" y="1828800"/>
            <a:ext cx="2239920" cy="1416960"/>
          </a:xfrm>
          <a:prstGeom prst="roundRect">
            <a:avLst>
              <a:gd name="adj" fmla="val 3871"/>
            </a:avLst>
          </a:prstGeom>
          <a:solidFill>
            <a:srgbClr val="eaf0fa"/>
          </a:solidFill>
          <a:ln w="12700">
            <a:solidFill>
              <a:srgbClr val="d6df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3410640" y="2039040"/>
            <a:ext cx="191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Django REST API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3410640" y="2468880"/>
            <a:ext cx="1910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Авторизация · профили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динамические формы · бизнес-правила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5586840" y="2304360"/>
            <a:ext cx="365400" cy="438480"/>
          </a:xfrm>
          <a:prstGeom prst="chevron">
            <a:avLst>
              <a:gd name="adj" fmla="val 50000"/>
            </a:avLst>
          </a:prstGeom>
          <a:solidFill>
            <a:srgbClr val="aab8c0"/>
          </a:solidFill>
          <a:ln w="12700">
            <a:solidFill>
              <a:srgbClr val="aab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5833800" y="1828800"/>
            <a:ext cx="2239920" cy="1416960"/>
          </a:xfrm>
          <a:prstGeom prst="roundRect">
            <a:avLst>
              <a:gd name="adj" fmla="val 3871"/>
            </a:avLst>
          </a:prstGeom>
          <a:solidFill>
            <a:srgbClr val="f5efe7"/>
          </a:solidFill>
          <a:ln w="12700">
            <a:solidFill>
              <a:srgbClr val="d6df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5998320" y="2039040"/>
            <a:ext cx="191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MIS database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5998320" y="2468880"/>
            <a:ext cx="1910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MySQL / MariaDB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Action · Event · ActionProperty*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8174880" y="2304360"/>
            <a:ext cx="365400" cy="438480"/>
          </a:xfrm>
          <a:prstGeom prst="chevron">
            <a:avLst>
              <a:gd name="adj" fmla="val 50000"/>
            </a:avLst>
          </a:prstGeom>
          <a:solidFill>
            <a:srgbClr val="aab8c0"/>
          </a:solidFill>
          <a:ln w="12700">
            <a:solidFill>
              <a:srgbClr val="aab8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8421480" y="1828800"/>
            <a:ext cx="2239920" cy="1416960"/>
          </a:xfrm>
          <a:prstGeom prst="roundRect">
            <a:avLst>
              <a:gd name="adj" fmla="val 3871"/>
            </a:avLst>
          </a:prstGeom>
          <a:solidFill>
            <a:srgbClr val="eef5ec"/>
          </a:solidFill>
          <a:ln w="12700">
            <a:solidFill>
              <a:srgbClr val="d6df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8586360" y="2039040"/>
            <a:ext cx="191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External services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8586360" y="2468880"/>
            <a:ext cx="1910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Файлы · портал врача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475569"/>
                </a:solidFill>
                <a:latin typeface="Aptos"/>
              </a:rPr>
              <a:t>диагностика · внутренние сервисы</a:t>
            </a:r>
            <a:endParaRPr b="0" lang="ru-RU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1060560" y="3730680"/>
            <a:ext cx="1252440" cy="255600"/>
          </a:xfrm>
          <a:prstGeom prst="roundRect">
            <a:avLst>
              <a:gd name="adj" fmla="val 21429"/>
            </a:avLst>
          </a:prstGeom>
          <a:solidFill>
            <a:srgbClr val="e9f1f1"/>
          </a:solidFill>
          <a:ln w="12700">
            <a:solidFill>
              <a:srgbClr val="e9f1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1134000" y="3781080"/>
            <a:ext cx="1105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1c6c70"/>
                </a:solidFill>
                <a:latin typeface="Aptos"/>
              </a:rPr>
              <a:t>dynamic schema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9"/>
          <p:cNvSpPr/>
          <p:nvPr/>
        </p:nvSpPr>
        <p:spPr>
          <a:xfrm>
            <a:off x="3666600" y="3730680"/>
            <a:ext cx="1371240" cy="255600"/>
          </a:xfrm>
          <a:prstGeom prst="roundRect">
            <a:avLst>
              <a:gd name="adj" fmla="val 21429"/>
            </a:avLst>
          </a:prstGeom>
          <a:solidFill>
            <a:srgbClr val="eaf0fa"/>
          </a:solidFill>
          <a:ln w="12700">
            <a:solidFill>
              <a:srgbClr val="ea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3740040" y="3781080"/>
            <a:ext cx="12250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4f6896"/>
                </a:solidFill>
                <a:latin typeface="Aptos"/>
              </a:rPr>
              <a:t>metadata adapter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6245280" y="3730680"/>
            <a:ext cx="1481040" cy="255600"/>
          </a:xfrm>
          <a:prstGeom prst="roundRect">
            <a:avLst>
              <a:gd name="adj" fmla="val 21429"/>
            </a:avLst>
          </a:prstGeom>
          <a:solidFill>
            <a:srgbClr val="f7eee4"/>
          </a:solidFill>
          <a:ln w="12700">
            <a:solidFill>
              <a:srgbClr val="f7e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6318360" y="3781080"/>
            <a:ext cx="13345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c97842"/>
                </a:solidFill>
                <a:latin typeface="Aptos"/>
              </a:rPr>
              <a:t>legacy compatibility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3"/>
          <p:cNvSpPr/>
          <p:nvPr/>
        </p:nvSpPr>
        <p:spPr>
          <a:xfrm>
            <a:off x="8906400" y="3730680"/>
            <a:ext cx="1234080" cy="255600"/>
          </a:xfrm>
          <a:prstGeom prst="roundRect">
            <a:avLst>
              <a:gd name="adj" fmla="val 21429"/>
            </a:avLst>
          </a:prstGeom>
          <a:solidFill>
            <a:srgbClr val="edf3eb"/>
          </a:solidFill>
          <a:ln w="12700">
            <a:solidFill>
              <a:srgbClr val="edf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4"/>
          <p:cNvSpPr/>
          <p:nvPr/>
        </p:nvSpPr>
        <p:spPr>
          <a:xfrm>
            <a:off x="8979480" y="3781080"/>
            <a:ext cx="10879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5f8768"/>
                </a:solidFill>
                <a:latin typeface="Aptos"/>
              </a:rPr>
              <a:t>closed network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5"/>
          <p:cNvSpPr/>
          <p:nvPr/>
        </p:nvSpPr>
        <p:spPr>
          <a:xfrm>
            <a:off x="713160" y="44438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6c70"/>
                </a:solidFill>
                <a:latin typeface="Aptos"/>
              </a:rPr>
              <a:t>Ключевой принцип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713160" y="4818960"/>
            <a:ext cx="521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Aptos"/>
              </a:rPr>
              <a:t>мобильный клиент не копирует структуру МИС. Backend интерпретирует метаданные, справочники и типы свойств и отдаёт клиенту унифицированную REST-модель.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7"/>
          <p:cNvSpPr/>
          <p:nvPr/>
        </p:nvSpPr>
        <p:spPr>
          <a:xfrm>
            <a:off x="6419160" y="44438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6c70"/>
                </a:solidFill>
                <a:latin typeface="Aptos"/>
              </a:rPr>
              <a:t>Практический эффект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8"/>
          <p:cNvSpPr/>
          <p:nvPr/>
        </p:nvSpPr>
        <p:spPr>
          <a:xfrm>
            <a:off x="6419160" y="4827960"/>
            <a:ext cx="4498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меньше жёстко зашитых форм;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поддержка разных редакций МИС;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расширение без изменения базовой схемы.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sldNum" idx="6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A1E638-22BF-492E-AC3F-B2614613BE80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UX/UI и работа на устройстве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Интерфейс проектировался под реальный врачебный сценарий: быстрые действия, крупные зоны касания и предсказуемое состояние.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658440" y="1325880"/>
            <a:ext cx="1901520" cy="42516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 0" descr="/mnt/data/oldppt/ppt/media/image9.png"/>
          <p:cNvPicPr/>
          <p:nvPr/>
        </p:nvPicPr>
        <p:blipFill>
          <a:blip r:embed="rId1"/>
          <a:stretch/>
        </p:blipFill>
        <p:spPr>
          <a:xfrm>
            <a:off x="749880" y="1466640"/>
            <a:ext cx="1718640" cy="3970440"/>
          </a:xfrm>
          <a:prstGeom prst="rect">
            <a:avLst/>
          </a:prstGeom>
          <a:ln w="0">
            <a:noFill/>
          </a:ln>
        </p:spPr>
      </p:pic>
      <p:sp>
        <p:nvSpPr>
          <p:cNvPr id="99" name="Shape 3"/>
          <p:cNvSpPr/>
          <p:nvPr/>
        </p:nvSpPr>
        <p:spPr>
          <a:xfrm>
            <a:off x="731520" y="5266800"/>
            <a:ext cx="17553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804600" y="5294520"/>
            <a:ext cx="1608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Темы, размер шрифта, dynamic colors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2788920" y="1572840"/>
            <a:ext cx="2139480" cy="17553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1" descr="/mnt/data/oldppt/ppt/media/image15.png"/>
          <p:cNvPicPr/>
          <p:nvPr/>
        </p:nvPicPr>
        <p:blipFill>
          <a:blip r:embed="rId2"/>
          <a:stretch/>
        </p:blipFill>
        <p:spPr>
          <a:xfrm>
            <a:off x="2880360" y="1995120"/>
            <a:ext cx="1956600" cy="910440"/>
          </a:xfrm>
          <a:prstGeom prst="rect">
            <a:avLst/>
          </a:prstGeom>
          <a:ln w="0">
            <a:noFill/>
          </a:ln>
        </p:spPr>
      </p:pic>
      <p:sp>
        <p:nvSpPr>
          <p:cNvPr id="103" name="Shape 6"/>
          <p:cNvSpPr/>
          <p:nvPr/>
        </p:nvSpPr>
        <p:spPr>
          <a:xfrm>
            <a:off x="2862000" y="3017520"/>
            <a:ext cx="19929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2935080" y="3044880"/>
            <a:ext cx="1846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Лимит локальных черновиков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2788920" y="3593520"/>
            <a:ext cx="2139480" cy="19929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2" descr="/mnt/data/oldppt/ppt/media/image19.png"/>
          <p:cNvPicPr/>
          <p:nvPr/>
        </p:nvPicPr>
        <p:blipFill>
          <a:blip r:embed="rId3"/>
          <a:stretch/>
        </p:blipFill>
        <p:spPr>
          <a:xfrm>
            <a:off x="3029040" y="3684960"/>
            <a:ext cx="1659240" cy="1810080"/>
          </a:xfrm>
          <a:prstGeom prst="rect">
            <a:avLst/>
          </a:prstGeom>
          <a:ln w="0">
            <a:noFill/>
          </a:ln>
        </p:spPr>
      </p:pic>
      <p:sp>
        <p:nvSpPr>
          <p:cNvPr id="107" name="Shape 9"/>
          <p:cNvSpPr/>
          <p:nvPr/>
        </p:nvSpPr>
        <p:spPr>
          <a:xfrm>
            <a:off x="2862000" y="5276160"/>
            <a:ext cx="19929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2935080" y="5303520"/>
            <a:ext cx="1846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Избранное и шаблоны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5321880" y="13168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Что учтено в UX/UI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5321880" y="1719000"/>
            <a:ext cx="28342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Material 3 и адаптация под планшет/телефон;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динамические темы, системные цвета и настройка размера текста;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контекстные кнопки и разделение действий «создать / просмотреть / изменить»;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явные подтверждения перед записью клинических данных.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8430840" y="1316880"/>
            <a:ext cx="3629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Офлайн и память устройства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8430840" y="1719000"/>
            <a:ext cx="28800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черновики дневников сохраняются локально на устройстве;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ограничение количества черновиков на обращение настраивается;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пользовательские шаблоны и избранное сохраняют состояние между сессиями;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при восстановлении связи черновик можно открыть, проверить и отправить в МИС.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5"/>
          <p:cNvSpPr/>
          <p:nvPr/>
        </p:nvSpPr>
        <p:spPr>
          <a:xfrm>
            <a:off x="5321880" y="4736520"/>
            <a:ext cx="5988960" cy="804240"/>
          </a:xfrm>
          <a:prstGeom prst="roundRect">
            <a:avLst>
              <a:gd name="adj" fmla="val 6818"/>
            </a:avLst>
          </a:prstGeom>
          <a:solidFill>
            <a:srgbClr val="edf4f4"/>
          </a:solidFill>
          <a:ln w="12700">
            <a:solidFill>
              <a:srgbClr val="d4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5532120" y="4956120"/>
            <a:ext cx="5559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pc="-1" strike="noStrike">
                <a:solidFill>
                  <a:srgbClr val="1c6c70"/>
                </a:solidFill>
                <a:latin typeface="Aptos"/>
              </a:rPr>
              <a:t>UX-цель: минимизировать ручной ввод и риск потери данных при нестабильной связи, не превращая мобильный клиент в автономную копию МИС.</a:t>
            </a:r>
            <a:endParaRPr b="0" lang="ru-RU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sldNum" idx="7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818D69-9445-4FCE-A135-5F4345D562AB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Динамические формы из метаданных МИС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Форма строится по ActionType / ActionPropertyType и различает параметры направления и поля результата.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658440" y="1280160"/>
            <a:ext cx="5851800" cy="44344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0" descr="/mnt/data/image(20261014-044210).png"/>
          <p:cNvPicPr/>
          <p:nvPr/>
        </p:nvPicPr>
        <p:blipFill>
          <a:blip r:embed="rId1"/>
          <a:stretch/>
        </p:blipFill>
        <p:spPr>
          <a:xfrm>
            <a:off x="1090440" y="1371600"/>
            <a:ext cx="4987800" cy="4251600"/>
          </a:xfrm>
          <a:prstGeom prst="rect">
            <a:avLst/>
          </a:prstGeom>
          <a:ln w="0">
            <a:noFill/>
          </a:ln>
        </p:spPr>
      </p:pic>
      <p:sp>
        <p:nvSpPr>
          <p:cNvPr id="120" name="Shape 3"/>
          <p:cNvSpPr/>
          <p:nvPr/>
        </p:nvSpPr>
        <p:spPr>
          <a:xfrm>
            <a:off x="731520" y="5403960"/>
            <a:ext cx="57056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804600" y="5431680"/>
            <a:ext cx="5559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Пример: параметры направления доступны, поля результата блокируются до выполнения исследования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6903720" y="129852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Поддерживаемые сценарии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6903720" y="1710000"/>
            <a:ext cx="424260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475569"/>
                </a:solidFill>
                <a:latin typeface="Aptos"/>
                <a:ea typeface="Aptos"/>
              </a:rPr>
              <a:t>строка, текст, число, дата, время, Boolean;</a:t>
            </a:r>
            <a:endParaRPr b="0" lang="ru-RU" sz="11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475569"/>
                </a:solidFill>
                <a:latin typeface="Aptos"/>
                <a:ea typeface="Aptos"/>
              </a:rPr>
              <a:t>справочники и ReferenceColumns;</a:t>
            </a:r>
            <a:endParaRPr b="0" lang="ru-RU" sz="11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475569"/>
                </a:solidFill>
                <a:latin typeface="Aptos"/>
                <a:ea typeface="Aptos"/>
              </a:rPr>
              <a:t>Constructor через rbThesaurus;</a:t>
            </a:r>
            <a:endParaRPr b="0" lang="ru-RU" sz="11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475569"/>
                </a:solidFill>
                <a:latin typeface="Aptos"/>
                <a:ea typeface="Aptos"/>
              </a:rPr>
              <a:t>Person / OrgStructure / специализированные типы;</a:t>
            </a:r>
            <a:endParaRPr b="0" lang="ru-RU" sz="11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475569"/>
                </a:solidFill>
                <a:latin typeface="Aptos"/>
                <a:ea typeface="Aptos"/>
              </a:rPr>
              <a:t>разделение «параметр направления» и «результат исследования».</a:t>
            </a:r>
            <a:endParaRPr b="0" lang="ru-RU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6903720" y="4316040"/>
            <a:ext cx="4242600" cy="11242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7113960" y="4507920"/>
            <a:ext cx="242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c6c70"/>
                </a:solidFill>
                <a:latin typeface="Aptos"/>
              </a:rPr>
              <a:t>Инженерный подход</a:t>
            </a:r>
            <a:endParaRPr b="0" lang="ru-RU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7113960" y="4818960"/>
            <a:ext cx="365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475569"/>
                </a:solidFill>
                <a:latin typeface="Aptos"/>
              </a:rPr>
              <a:t>Новые формы подключаются через метаданные и конфигурацию backend; изменения базовой схемы МИС не требуются.</a:t>
            </a:r>
            <a:endParaRPr b="0" lang="ru-RU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8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C462465-4D68-436C-A13D-6C15CCB3DB94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Дневники: шаблоны, черновики и повторное использование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Типы дневников зависят от подразделения и специальности; пользовательские сценарии сокращают повторный ввод.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658440" y="1234440"/>
            <a:ext cx="2239920" cy="448020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Image 0" descr="/mnt/data/oldppt/ppt/media/image17.png"/>
          <p:cNvPicPr/>
          <p:nvPr/>
        </p:nvPicPr>
        <p:blipFill>
          <a:blip r:embed="rId1"/>
          <a:stretch/>
        </p:blipFill>
        <p:spPr>
          <a:xfrm>
            <a:off x="749880" y="1945440"/>
            <a:ext cx="2057040" cy="3057840"/>
          </a:xfrm>
          <a:prstGeom prst="rect">
            <a:avLst/>
          </a:prstGeom>
          <a:ln w="0">
            <a:noFill/>
          </a:ln>
        </p:spPr>
      </p:pic>
      <p:sp>
        <p:nvSpPr>
          <p:cNvPr id="132" name="Shape 3"/>
          <p:cNvSpPr/>
          <p:nvPr/>
        </p:nvSpPr>
        <p:spPr>
          <a:xfrm>
            <a:off x="731520" y="5403960"/>
            <a:ext cx="20937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804600" y="5431680"/>
            <a:ext cx="1947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Выбор типа дневника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3090600" y="1234440"/>
            <a:ext cx="2239920" cy="448020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1" descr="/mnt/data/oldppt/ppt/media/image19.png"/>
          <p:cNvPicPr/>
          <p:nvPr/>
        </p:nvPicPr>
        <p:blipFill>
          <a:blip r:embed="rId2"/>
          <a:stretch/>
        </p:blipFill>
        <p:spPr>
          <a:xfrm>
            <a:off x="3182040" y="2352600"/>
            <a:ext cx="2057040" cy="2244240"/>
          </a:xfrm>
          <a:prstGeom prst="rect">
            <a:avLst/>
          </a:prstGeom>
          <a:ln w="0">
            <a:noFill/>
          </a:ln>
        </p:spPr>
      </p:pic>
      <p:sp>
        <p:nvSpPr>
          <p:cNvPr id="136" name="Shape 6"/>
          <p:cNvSpPr/>
          <p:nvPr/>
        </p:nvSpPr>
        <p:spPr>
          <a:xfrm>
            <a:off x="3163680" y="5403960"/>
            <a:ext cx="20937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3237120" y="5431680"/>
            <a:ext cx="1947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Шаблоны и избранное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5523120" y="1234440"/>
            <a:ext cx="2239920" cy="448020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Image 2" descr="/mnt/data/oldppt/ppt/media/image21.png"/>
          <p:cNvPicPr/>
          <p:nvPr/>
        </p:nvPicPr>
        <p:blipFill>
          <a:blip r:embed="rId3"/>
          <a:stretch/>
        </p:blipFill>
        <p:spPr>
          <a:xfrm>
            <a:off x="5614560" y="2334960"/>
            <a:ext cx="2057040" cy="2279520"/>
          </a:xfrm>
          <a:prstGeom prst="rect">
            <a:avLst/>
          </a:prstGeom>
          <a:ln w="0">
            <a:noFill/>
          </a:ln>
        </p:spPr>
      </p:pic>
      <p:sp>
        <p:nvSpPr>
          <p:cNvPr id="140" name="Shape 9"/>
          <p:cNvSpPr/>
          <p:nvPr/>
        </p:nvSpPr>
        <p:spPr>
          <a:xfrm>
            <a:off x="5596200" y="5403960"/>
            <a:ext cx="20937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669280" y="5431680"/>
            <a:ext cx="1947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Создание записи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7955280" y="1234440"/>
            <a:ext cx="2239920" cy="448020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Image 3" descr="/mnt/data/oldppt/ppt/media/image24.png"/>
          <p:cNvPicPr/>
          <p:nvPr/>
        </p:nvPicPr>
        <p:blipFill>
          <a:blip r:embed="rId4"/>
          <a:stretch/>
        </p:blipFill>
        <p:spPr>
          <a:xfrm>
            <a:off x="8046720" y="2333160"/>
            <a:ext cx="2057040" cy="2282400"/>
          </a:xfrm>
          <a:prstGeom prst="rect">
            <a:avLst/>
          </a:prstGeom>
          <a:ln w="0">
            <a:noFill/>
          </a:ln>
        </p:spPr>
      </p:pic>
      <p:sp>
        <p:nvSpPr>
          <p:cNvPr id="144" name="Shape 12"/>
          <p:cNvSpPr/>
          <p:nvPr/>
        </p:nvSpPr>
        <p:spPr>
          <a:xfrm>
            <a:off x="8028360" y="5403960"/>
            <a:ext cx="209376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8101440" y="5431680"/>
            <a:ext cx="1947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История дневников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10515600" y="139896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6c70"/>
                </a:solidFill>
                <a:latin typeface="Aptos"/>
              </a:rPr>
              <a:t>Reuse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10515600" y="1810440"/>
            <a:ext cx="9597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475569"/>
                </a:solidFill>
                <a:latin typeface="Aptos"/>
              </a:rPr>
              <a:t>Ранее созданную запись можно использовать как основу нового дневника. Черновик хранится локально до отправки.</a:t>
            </a:r>
            <a:endParaRPr b="0" lang="ru-RU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10515600" y="4096440"/>
            <a:ext cx="868320" cy="255600"/>
          </a:xfrm>
          <a:prstGeom prst="roundRect">
            <a:avLst>
              <a:gd name="adj" fmla="val 21429"/>
            </a:avLst>
          </a:prstGeom>
          <a:solidFill>
            <a:srgbClr val="edf4f4"/>
          </a:solidFill>
          <a:ln w="12700">
            <a:solidFill>
              <a:srgbClr val="ed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10588680" y="4146840"/>
            <a:ext cx="7221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1c6c70"/>
                </a:solidFill>
                <a:latin typeface="Aptos"/>
              </a:rPr>
              <a:t>offline draft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10515600" y="4443840"/>
            <a:ext cx="868320" cy="255600"/>
          </a:xfrm>
          <a:prstGeom prst="roundRect">
            <a:avLst>
              <a:gd name="adj" fmla="val 21429"/>
            </a:avLst>
          </a:prstGeom>
          <a:solidFill>
            <a:srgbClr val="f4f0e8"/>
          </a:solidFill>
          <a:ln w="12700">
            <a:solidFill>
              <a:srgbClr val="f4f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10588680" y="4494240"/>
            <a:ext cx="7221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c97842"/>
                </a:solidFill>
                <a:latin typeface="Aptos"/>
              </a:rPr>
              <a:t>templates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0"/>
          <p:cNvSpPr/>
          <p:nvPr/>
        </p:nvSpPr>
        <p:spPr>
          <a:xfrm>
            <a:off x="10515600" y="4791600"/>
            <a:ext cx="868320" cy="255600"/>
          </a:xfrm>
          <a:prstGeom prst="roundRect">
            <a:avLst>
              <a:gd name="adj" fmla="val 21429"/>
            </a:avLst>
          </a:prstGeom>
          <a:solidFill>
            <a:srgbClr val="eef1f7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10588680" y="4841640"/>
            <a:ext cx="7221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6a628c"/>
                </a:solidFill>
                <a:latin typeface="Aptos"/>
              </a:rPr>
              <a:t>history</a:t>
            </a:r>
            <a:endParaRPr b="0" lang="ru-RU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sldNum" idx="9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75CC38-2E16-4CD5-9017-76811C6C9F92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Анализы и диагностика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Просмотр истории пациента и создание направлений отделены от ввода результатов исследования.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640080" y="1243440"/>
            <a:ext cx="2066040" cy="3702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Image 0" descr="/mnt/data/oldppt/ppt/media/image26.png"/>
          <p:cNvPicPr/>
          <p:nvPr/>
        </p:nvPicPr>
        <p:blipFill>
          <a:blip r:embed="rId1"/>
          <a:stretch/>
        </p:blipFill>
        <p:spPr>
          <a:xfrm>
            <a:off x="731520" y="1650600"/>
            <a:ext cx="1883160" cy="2889360"/>
          </a:xfrm>
          <a:prstGeom prst="rect">
            <a:avLst/>
          </a:prstGeom>
          <a:ln w="0">
            <a:noFill/>
          </a:ln>
        </p:spPr>
      </p:pic>
      <p:sp>
        <p:nvSpPr>
          <p:cNvPr id="159" name="Shape 3"/>
          <p:cNvSpPr/>
          <p:nvPr/>
        </p:nvSpPr>
        <p:spPr>
          <a:xfrm>
            <a:off x="713160" y="4636080"/>
            <a:ext cx="19198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786240" y="4663440"/>
            <a:ext cx="1773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История анализов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2816280" y="1243440"/>
            <a:ext cx="2066040" cy="3702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1" descr="/mnt/data/oldppt/ppt/media/image28.png"/>
          <p:cNvPicPr/>
          <p:nvPr/>
        </p:nvPicPr>
        <p:blipFill>
          <a:blip r:embed="rId2"/>
          <a:stretch/>
        </p:blipFill>
        <p:spPr>
          <a:xfrm>
            <a:off x="2907720" y="1954440"/>
            <a:ext cx="1883160" cy="2281680"/>
          </a:xfrm>
          <a:prstGeom prst="rect">
            <a:avLst/>
          </a:prstGeom>
          <a:ln w="0">
            <a:noFill/>
          </a:ln>
        </p:spPr>
      </p:pic>
      <p:sp>
        <p:nvSpPr>
          <p:cNvPr id="163" name="Shape 6"/>
          <p:cNvSpPr/>
          <p:nvPr/>
        </p:nvSpPr>
        <p:spPr>
          <a:xfrm>
            <a:off x="2889360" y="4636080"/>
            <a:ext cx="19198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2962800" y="4663440"/>
            <a:ext cx="1773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Выбор анализа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4992480" y="1243440"/>
            <a:ext cx="2066040" cy="3702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Image 2" descr="/mnt/data/oldppt/ppt/media/image31.png"/>
          <p:cNvPicPr/>
          <p:nvPr/>
        </p:nvPicPr>
        <p:blipFill>
          <a:blip r:embed="rId3"/>
          <a:stretch/>
        </p:blipFill>
        <p:spPr>
          <a:xfrm>
            <a:off x="5083920" y="1762200"/>
            <a:ext cx="1883160" cy="2666160"/>
          </a:xfrm>
          <a:prstGeom prst="rect">
            <a:avLst/>
          </a:prstGeom>
          <a:ln w="0">
            <a:noFill/>
          </a:ln>
        </p:spPr>
      </p:pic>
      <p:sp>
        <p:nvSpPr>
          <p:cNvPr id="167" name="Shape 9"/>
          <p:cNvSpPr/>
          <p:nvPr/>
        </p:nvSpPr>
        <p:spPr>
          <a:xfrm>
            <a:off x="5065920" y="4636080"/>
            <a:ext cx="19198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5139000" y="4663440"/>
            <a:ext cx="1773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История диагностики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7169040" y="1243440"/>
            <a:ext cx="2066040" cy="3702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3" descr="/mnt/data/oldppt/ppt/media/image33.png"/>
          <p:cNvPicPr/>
          <p:nvPr/>
        </p:nvPicPr>
        <p:blipFill>
          <a:blip r:embed="rId4"/>
          <a:stretch/>
        </p:blipFill>
        <p:spPr>
          <a:xfrm>
            <a:off x="7260480" y="1993680"/>
            <a:ext cx="1883160" cy="2202480"/>
          </a:xfrm>
          <a:prstGeom prst="rect">
            <a:avLst/>
          </a:prstGeom>
          <a:ln w="0">
            <a:noFill/>
          </a:ln>
        </p:spPr>
      </p:pic>
      <p:sp>
        <p:nvSpPr>
          <p:cNvPr id="171" name="Shape 12"/>
          <p:cNvSpPr/>
          <p:nvPr/>
        </p:nvSpPr>
        <p:spPr>
          <a:xfrm>
            <a:off x="7242120" y="4636080"/>
            <a:ext cx="191988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7315200" y="4663440"/>
            <a:ext cx="1773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Создание направления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9528120" y="1252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f2933"/>
                </a:solidFill>
                <a:latin typeface="Aptos"/>
              </a:rPr>
              <a:t>Backend-логика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9528120" y="1664280"/>
            <a:ext cx="20480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060" spc="-1" strike="noStrike">
                <a:solidFill>
                  <a:srgbClr val="475569"/>
                </a:solidFill>
                <a:latin typeface="Aptos"/>
                <a:ea typeface="Aptos"/>
              </a:rPr>
              <a:t>поиск по коду / наименованию;</a:t>
            </a:r>
            <a:endParaRPr b="0" lang="ru-RU" sz="10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060" spc="-1" strike="noStrike">
                <a:solidFill>
                  <a:srgbClr val="475569"/>
                </a:solidFill>
                <a:latin typeface="Aptos"/>
                <a:ea typeface="Aptos"/>
              </a:rPr>
              <a:t>списки разрешённых типов через конфигурацию;</a:t>
            </a:r>
            <a:endParaRPr b="0" lang="ru-RU" sz="10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060" spc="-1" strike="noStrike">
                <a:solidFill>
                  <a:srgbClr val="475569"/>
                </a:solidFill>
                <a:latin typeface="Aptos"/>
                <a:ea typeface="Aptos"/>
              </a:rPr>
              <a:t>статус «Назначено» и отдельные флаги свойств;</a:t>
            </a:r>
            <a:endParaRPr b="0" lang="ru-RU" sz="10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060" spc="-1" strike="noStrike">
                <a:solidFill>
                  <a:srgbClr val="475569"/>
                </a:solidFill>
                <a:latin typeface="Aptos"/>
                <a:ea typeface="Aptos"/>
              </a:rPr>
              <a:t>история текущего и прошлых обращений;</a:t>
            </a:r>
            <a:endParaRPr b="0" lang="ru-RU" sz="10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060" spc="-1" strike="noStrike">
                <a:solidFill>
                  <a:srgbClr val="475569"/>
                </a:solidFill>
                <a:latin typeface="Aptos"/>
                <a:ea typeface="Aptos"/>
              </a:rPr>
              <a:t>детализация результата после выполнения.</a:t>
            </a:r>
            <a:endParaRPr b="0" lang="ru-RU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658440" y="5285160"/>
            <a:ext cx="8558280" cy="585000"/>
          </a:xfrm>
          <a:prstGeom prst="roundRect">
            <a:avLst>
              <a:gd name="adj" fmla="val 9375"/>
            </a:avLst>
          </a:prstGeom>
          <a:solidFill>
            <a:srgbClr val="edf4f4"/>
          </a:solidFill>
          <a:ln w="12700">
            <a:solidFill>
              <a:srgbClr val="d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896040" y="5477400"/>
            <a:ext cx="808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1c6c70"/>
                </a:solidFill>
                <a:latin typeface="Aptos"/>
              </a:rPr>
              <a:t>Принцип: при создании направления врач выбирает, что нужно выполнить; поля результата заполняются после проведения исследования.</a:t>
            </a:r>
            <a:endParaRPr b="0" lang="ru-RU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sldNum" idx="10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30FDDDE-F611-42EA-8A96-FF79A8CDF5F0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Лечение и листы назначений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Поиск назначений, готовые листы, параметры препарата и управление активными назначениями.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658440" y="1234440"/>
            <a:ext cx="2422800" cy="47545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0" descr="/mnt/data/image(20261002-072403).png"/>
          <p:cNvPicPr/>
          <p:nvPr/>
        </p:nvPicPr>
        <p:blipFill>
          <a:blip r:embed="rId1"/>
          <a:stretch/>
        </p:blipFill>
        <p:spPr>
          <a:xfrm>
            <a:off x="749880" y="1813320"/>
            <a:ext cx="2239920" cy="3597120"/>
          </a:xfrm>
          <a:prstGeom prst="rect">
            <a:avLst/>
          </a:prstGeom>
          <a:ln w="0">
            <a:noFill/>
          </a:ln>
        </p:spPr>
      </p:pic>
      <p:sp>
        <p:nvSpPr>
          <p:cNvPr id="182" name="Shape 3"/>
          <p:cNvSpPr/>
          <p:nvPr/>
        </p:nvSpPr>
        <p:spPr>
          <a:xfrm>
            <a:off x="731520" y="5678280"/>
            <a:ext cx="22766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804600" y="5706000"/>
            <a:ext cx="2130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Текущее лечение и статусы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3328560" y="1234440"/>
            <a:ext cx="278856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Image 1" descr="/mnt/data/oldppt/ppt/media/image41.png"/>
          <p:cNvPicPr/>
          <p:nvPr/>
        </p:nvPicPr>
        <p:blipFill>
          <a:blip r:embed="rId2"/>
          <a:stretch/>
        </p:blipFill>
        <p:spPr>
          <a:xfrm>
            <a:off x="3420000" y="1570320"/>
            <a:ext cx="2605680" cy="1266840"/>
          </a:xfrm>
          <a:prstGeom prst="rect">
            <a:avLst/>
          </a:prstGeom>
          <a:ln w="0">
            <a:noFill/>
          </a:ln>
        </p:spPr>
      </p:pic>
      <p:sp>
        <p:nvSpPr>
          <p:cNvPr id="186" name="Shape 6"/>
          <p:cNvSpPr/>
          <p:nvPr/>
        </p:nvSpPr>
        <p:spPr>
          <a:xfrm>
            <a:off x="3401640" y="2862000"/>
            <a:ext cx="264240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3474720" y="2889360"/>
            <a:ext cx="2495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Шаблоны листов назначений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3328560" y="3456360"/>
            <a:ext cx="2788560" cy="2532600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Image 2" descr="/mnt/data/oldppt/ppt/media/image42.png"/>
          <p:cNvPicPr/>
          <p:nvPr/>
        </p:nvPicPr>
        <p:blipFill>
          <a:blip r:embed="rId3"/>
          <a:stretch/>
        </p:blipFill>
        <p:spPr>
          <a:xfrm>
            <a:off x="3420000" y="4044240"/>
            <a:ext cx="2605680" cy="1357200"/>
          </a:xfrm>
          <a:prstGeom prst="rect">
            <a:avLst/>
          </a:prstGeom>
          <a:ln w="0">
            <a:noFill/>
          </a:ln>
        </p:spPr>
      </p:pic>
      <p:sp>
        <p:nvSpPr>
          <p:cNvPr id="190" name="Shape 9"/>
          <p:cNvSpPr/>
          <p:nvPr/>
        </p:nvSpPr>
        <p:spPr>
          <a:xfrm>
            <a:off x="3401640" y="5678280"/>
            <a:ext cx="264240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3474720" y="5706000"/>
            <a:ext cx="2495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Состав шаблона и назначение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6446520" y="1261800"/>
            <a:ext cx="237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Функциональность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6446520" y="1673280"/>
            <a:ext cx="32914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30" spc="-1" strike="noStrike">
                <a:solidFill>
                  <a:srgbClr val="475569"/>
                </a:solidFill>
                <a:latin typeface="Aptos"/>
                <a:ea typeface="Aptos"/>
              </a:rPr>
              <a:t>поиск по коду и наименованию;</a:t>
            </a:r>
            <a:endParaRPr b="0" lang="ru-RU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30" spc="-1" strike="noStrike">
                <a:solidFill>
                  <a:srgbClr val="475569"/>
                </a:solidFill>
                <a:latin typeface="Aptos"/>
                <a:ea typeface="Aptos"/>
              </a:rPr>
              <a:t>листы назначений из МИС и локальные шаблоны пользователя;</a:t>
            </a:r>
            <a:endParaRPr b="0" lang="ru-RU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30" spc="-1" strike="noStrike">
                <a:solidFill>
                  <a:srgbClr val="475569"/>
                </a:solidFill>
                <a:latin typeface="Aptos"/>
                <a:ea typeface="Aptos"/>
              </a:rPr>
              <a:t>дозировка, кратность, способ применения, даты начала/окончания;</a:t>
            </a:r>
            <a:endParaRPr b="0" lang="ru-RU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30" spc="-1" strike="noStrike">
                <a:solidFill>
                  <a:srgbClr val="475569"/>
                </a:solidFill>
                <a:latin typeface="Aptos"/>
                <a:ea typeface="Aptos"/>
              </a:rPr>
              <a:t>изменение сроков и отмена активного назначения;</a:t>
            </a:r>
            <a:endParaRPr b="0" lang="ru-RU" sz="113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30" spc="-1" strike="noStrike">
                <a:solidFill>
                  <a:srgbClr val="475569"/>
                </a:solidFill>
                <a:latin typeface="Aptos"/>
                <a:ea typeface="Aptos"/>
              </a:rPr>
              <a:t>импорт / экспорт пользовательских шаблонов.</a:t>
            </a:r>
            <a:endParaRPr b="0" lang="ru-RU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6446520" y="4535280"/>
            <a:ext cx="4864320" cy="1133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6675120" y="4718160"/>
            <a:ext cx="2684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1c6c70"/>
                </a:solidFill>
                <a:latin typeface="Aptos"/>
              </a:rPr>
              <a:t>Совместимость с МИС</a:t>
            </a:r>
            <a:endParaRPr b="0" lang="ru-RU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6675120" y="504756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475569"/>
                </a:solidFill>
                <a:latin typeface="Aptos"/>
              </a:rPr>
              <a:t>Значения справочных и специализированных типов сохраняются в соответствующие ActionProperty-хранилища, чтобы запись оставалась читаемой штатным клиентом.</a:t>
            </a:r>
            <a:endParaRPr b="0" lang="ru-RU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sldNum" idx="11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2983EEA-175E-4796-A4D4-3F87966D7AAF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Мероприятия и клинические документы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Единый динамический механизм используется для движений пациента, эпикризов и других клинических событий.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685800" y="1298520"/>
            <a:ext cx="2422800" cy="44985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Image 0" descr="/mnt/data/oldppt/ppt/media/image52.png"/>
          <p:cNvPicPr/>
          <p:nvPr/>
        </p:nvPicPr>
        <p:blipFill>
          <a:blip r:embed="rId1"/>
          <a:stretch/>
        </p:blipFill>
        <p:spPr>
          <a:xfrm>
            <a:off x="777240" y="1522080"/>
            <a:ext cx="2239920" cy="4051440"/>
          </a:xfrm>
          <a:prstGeom prst="rect">
            <a:avLst/>
          </a:prstGeom>
          <a:ln w="0">
            <a:noFill/>
          </a:ln>
        </p:spPr>
      </p:pic>
      <p:sp>
        <p:nvSpPr>
          <p:cNvPr id="202" name="Shape 3"/>
          <p:cNvSpPr/>
          <p:nvPr/>
        </p:nvSpPr>
        <p:spPr>
          <a:xfrm>
            <a:off x="758880" y="5486400"/>
            <a:ext cx="22766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831960" y="5513760"/>
            <a:ext cx="2130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История мероприятий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3401640" y="1298520"/>
            <a:ext cx="2422800" cy="44985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1" descr="/mnt/data/oldppt/ppt/media/image53.png"/>
          <p:cNvPicPr/>
          <p:nvPr/>
        </p:nvPicPr>
        <p:blipFill>
          <a:blip r:embed="rId2"/>
          <a:stretch/>
        </p:blipFill>
        <p:spPr>
          <a:xfrm>
            <a:off x="3493080" y="2208240"/>
            <a:ext cx="2239920" cy="2678760"/>
          </a:xfrm>
          <a:prstGeom prst="rect">
            <a:avLst/>
          </a:prstGeom>
          <a:ln w="0">
            <a:noFill/>
          </a:ln>
        </p:spPr>
      </p:pic>
      <p:sp>
        <p:nvSpPr>
          <p:cNvPr id="206" name="Shape 6"/>
          <p:cNvSpPr/>
          <p:nvPr/>
        </p:nvSpPr>
        <p:spPr>
          <a:xfrm>
            <a:off x="3474720" y="5486400"/>
            <a:ext cx="22766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3547800" y="5513760"/>
            <a:ext cx="2130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Выбор типа мероприятия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6117480" y="1298520"/>
            <a:ext cx="2422800" cy="44985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Image 2" descr="/mnt/data/oldppt/ppt/media/image55.png"/>
          <p:cNvPicPr/>
          <p:nvPr/>
        </p:nvPicPr>
        <p:blipFill>
          <a:blip r:embed="rId3"/>
          <a:stretch/>
        </p:blipFill>
        <p:spPr>
          <a:xfrm>
            <a:off x="6208920" y="2473200"/>
            <a:ext cx="2239920" cy="2149200"/>
          </a:xfrm>
          <a:prstGeom prst="rect">
            <a:avLst/>
          </a:prstGeom>
          <a:ln w="0">
            <a:noFill/>
          </a:ln>
        </p:spPr>
      </p:pic>
      <p:sp>
        <p:nvSpPr>
          <p:cNvPr id="210" name="Shape 9"/>
          <p:cNvSpPr/>
          <p:nvPr/>
        </p:nvSpPr>
        <p:spPr>
          <a:xfrm>
            <a:off x="6190560" y="5486400"/>
            <a:ext cx="22766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6263640" y="5513760"/>
            <a:ext cx="2130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Динамическая форма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8888040" y="1353240"/>
            <a:ext cx="219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2933"/>
                </a:solidFill>
                <a:latin typeface="Aptos"/>
              </a:rPr>
              <a:t>Подход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8888040" y="1764720"/>
            <a:ext cx="2395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75569"/>
                </a:solidFill>
                <a:latin typeface="Aptos"/>
                <a:ea typeface="Aptos"/>
              </a:rPr>
              <a:t>поиск и группировка типов;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75569"/>
                </a:solidFill>
                <a:latin typeface="Aptos"/>
                <a:ea typeface="Aptos"/>
              </a:rPr>
              <a:t>пользовательские шаблоны;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75569"/>
                </a:solidFill>
                <a:latin typeface="Aptos"/>
                <a:ea typeface="Aptos"/>
              </a:rPr>
              <a:t>динамический набор полей;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75569"/>
                </a:solidFill>
                <a:latin typeface="Aptos"/>
                <a:ea typeface="Aptos"/>
              </a:rPr>
              <a:t>создание эпикризов и других записей;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475569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75569"/>
                </a:solidFill>
                <a:latin typeface="Aptos"/>
                <a:ea typeface="Aptos"/>
              </a:rPr>
              <a:t>история в разрезе текущего и прошлых обращений.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8888040" y="4517280"/>
            <a:ext cx="2395440" cy="1078560"/>
          </a:xfrm>
          <a:prstGeom prst="roundRect">
            <a:avLst>
              <a:gd name="adj" fmla="val 5085"/>
            </a:avLst>
          </a:prstGeom>
          <a:solidFill>
            <a:srgbClr val="f3efe8"/>
          </a:solidFill>
          <a:ln w="12700">
            <a:solidFill>
              <a:srgbClr val="e5dbcd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9089280" y="4745880"/>
            <a:ext cx="1992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97842"/>
                </a:solidFill>
                <a:latin typeface="Aptos"/>
              </a:rPr>
              <a:t>Один механизм форм позволяет расширять функциональность без отдельного Android-экрана на каждый ActionType.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sldNum" idx="12"/>
          </p:nvPr>
        </p:nvSpPr>
        <p:spPr>
          <a:xfrm>
            <a:off x="11759040" y="6492240"/>
            <a:ext cx="2192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7F2781F-BF55-481A-8716-677AD22120EB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Инженерные ограничения и решения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Проект разворачивается в закрытом медицинском контуре и должен оставаться совместимым с существующей инфраструктурой.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713160" y="13258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1c6c70"/>
                </a:solidFill>
                <a:latin typeface="Aptos"/>
              </a:rPr>
              <a:t>Legacy MySQL / MariaDB</a:t>
            </a:r>
            <a:endParaRPr b="0" lang="ru-RU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2852640" y="1453680"/>
            <a:ext cx="594360" cy="360"/>
          </a:xfrm>
          <a:prstGeom prst="line">
            <a:avLst/>
          </a:prstGeom>
          <a:ln w="15240">
            <a:solidFill>
              <a:srgbClr val="bcc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3593520" y="129852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475569"/>
                </a:solidFill>
                <a:latin typeface="Aptos"/>
              </a:rPr>
              <a:t>Интроспекция схемы, динамические JOIN и value-domain resolver вместо предположений о структуре.</a:t>
            </a:r>
            <a:endParaRPr b="0" lang="ru-RU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713160" y="2167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5977a4"/>
                </a:solidFill>
                <a:latin typeface="Aptos"/>
              </a:rPr>
              <a:t>Разные редакции МИС</a:t>
            </a:r>
            <a:endParaRPr b="0" lang="ru-RU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2852640" y="2295000"/>
            <a:ext cx="594360" cy="360"/>
          </a:xfrm>
          <a:prstGeom prst="line">
            <a:avLst/>
          </a:prstGeom>
          <a:ln w="15240">
            <a:solidFill>
              <a:srgbClr val="bcc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3593520" y="213984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475569"/>
                </a:solidFill>
                <a:latin typeface="Aptos"/>
              </a:rPr>
              <a:t>Конфигурация по context / serviceType / ActionType и точечные overrides без изменения основной схемы.</a:t>
            </a:r>
            <a:endParaRPr b="0" lang="ru-RU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713160" y="30085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5f8768"/>
                </a:solidFill>
                <a:latin typeface="Aptos"/>
              </a:rPr>
              <a:t>Закрытая сеть</a:t>
            </a:r>
            <a:endParaRPr b="0" lang="ru-RU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9"/>
          <p:cNvSpPr/>
          <p:nvPr/>
        </p:nvSpPr>
        <p:spPr>
          <a:xfrm>
            <a:off x="2852640" y="3136320"/>
            <a:ext cx="594360" cy="360"/>
          </a:xfrm>
          <a:prstGeom prst="line">
            <a:avLst/>
          </a:prstGeom>
          <a:ln w="15240">
            <a:solidFill>
              <a:srgbClr val="bcc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3593520" y="298080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475569"/>
                </a:solidFill>
                <a:latin typeface="Aptos"/>
              </a:rPr>
              <a:t>Локальный backend, отсутствие обязательных внешних SaaS-зависимостей, работа с внутренними файловыми ресурсами.</a:t>
            </a:r>
            <a:endParaRPr b="0" lang="ru-RU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713160" y="38494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c97842"/>
                </a:solidFill>
                <a:latin typeface="Aptos"/>
              </a:rPr>
              <a:t>Разнородные Linux-системы</a:t>
            </a:r>
            <a:endParaRPr b="0" lang="ru-RU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2"/>
          <p:cNvSpPr/>
          <p:nvPr/>
        </p:nvSpPr>
        <p:spPr>
          <a:xfrm>
            <a:off x="2852640" y="3977640"/>
            <a:ext cx="594360" cy="360"/>
          </a:xfrm>
          <a:prstGeom prst="line">
            <a:avLst/>
          </a:prstGeom>
          <a:ln w="15240">
            <a:solidFill>
              <a:srgbClr val="bcc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3593520" y="382212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475569"/>
                </a:solidFill>
                <a:latin typeface="Aptos"/>
              </a:rPr>
              <a:t>Развёртывание и диагностика на CentOS / RED OS / Astra Linux / Альт; учёт старых библиотек и ограничений окружения.</a:t>
            </a:r>
            <a:endParaRPr b="0" lang="ru-RU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4"/>
          <p:cNvSpPr/>
          <p:nvPr/>
        </p:nvSpPr>
        <p:spPr>
          <a:xfrm>
            <a:off x="713160" y="46908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b45e5e"/>
                </a:solidFill>
                <a:latin typeface="Aptos"/>
              </a:rPr>
              <a:t>Медицинские данные</a:t>
            </a:r>
            <a:endParaRPr b="0" lang="ru-RU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5"/>
          <p:cNvSpPr/>
          <p:nvPr/>
        </p:nvSpPr>
        <p:spPr>
          <a:xfrm>
            <a:off x="2852640" y="4818600"/>
            <a:ext cx="594360" cy="360"/>
          </a:xfrm>
          <a:prstGeom prst="line">
            <a:avLst/>
          </a:prstGeom>
          <a:ln w="15240">
            <a:solidFill>
              <a:srgbClr val="bcc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6"/>
          <p:cNvSpPr/>
          <p:nvPr/>
        </p:nvSpPr>
        <p:spPr>
          <a:xfrm>
            <a:off x="3593520" y="466344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475569"/>
                </a:solidFill>
                <a:latin typeface="Aptos"/>
              </a:rPr>
              <a:t>Обезличивание материалов, минимизация вывода чувствительных данных в логах и артефактах портфолио.</a:t>
            </a:r>
            <a:endParaRPr b="0" lang="ru-RU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7"/>
          <p:cNvSpPr/>
          <p:nvPr/>
        </p:nvSpPr>
        <p:spPr>
          <a:xfrm>
            <a:off x="8613720" y="5040000"/>
            <a:ext cx="2541600" cy="108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8"/>
          <p:cNvSpPr/>
          <p:nvPr/>
        </p:nvSpPr>
        <p:spPr>
          <a:xfrm>
            <a:off x="8686800" y="5888880"/>
            <a:ext cx="2395440" cy="23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0" descr="/mnt/data/oldppt/ppt/media/image45.png"/>
          <p:cNvPicPr/>
          <p:nvPr/>
        </p:nvPicPr>
        <p:blipFill>
          <a:blip r:embed="rId1"/>
          <a:stretch/>
        </p:blipFill>
        <p:spPr>
          <a:xfrm>
            <a:off x="8686800" y="5040000"/>
            <a:ext cx="1260000" cy="985680"/>
          </a:xfrm>
          <a:prstGeom prst="rect">
            <a:avLst/>
          </a:prstGeom>
          <a:ln w="0">
            <a:noFill/>
          </a:ln>
        </p:spPr>
      </p:pic>
      <p:sp>
        <p:nvSpPr>
          <p:cNvPr id="237" name="Text 19"/>
          <p:cNvSpPr/>
          <p:nvPr/>
        </p:nvSpPr>
        <p:spPr>
          <a:xfrm>
            <a:off x="8640000" y="6300000"/>
            <a:ext cx="1080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pc="-1" strike="noStrike">
                <a:solidFill>
                  <a:srgbClr val="475569"/>
                </a:solidFill>
                <a:latin typeface="Aptos"/>
              </a:rPr>
              <a:t>Конфигурация подключения и локальных функций</a:t>
            </a:r>
            <a:endParaRPr b="0" lang="ru-RU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0"/>
          <p:cNvSpPr/>
          <p:nvPr/>
        </p:nvSpPr>
        <p:spPr>
          <a:xfrm>
            <a:off x="713160" y="5742360"/>
            <a:ext cx="7479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pc="-1" strike="noStrike">
                <a:solidFill>
                  <a:srgbClr val="1f2933"/>
                </a:solidFill>
                <a:latin typeface="Aptos"/>
              </a:rPr>
              <a:t>Принцип разработки: не ломать базовую схему МИС, а адаптироваться к ней на уровне backend и клиентской модели.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sldNum" idx="13"/>
          </p:nvPr>
        </p:nvSpPr>
        <p:spPr>
          <a:xfrm>
            <a:off x="11700000" y="6483600"/>
            <a:ext cx="458280" cy="17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CE86AF3-1B55-4783-BDEB-BAE05B6A9220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Технологический стек и качество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Full-stack разработка, интеграция, диагностика и сопровождение в одном проекте.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658440" y="1316880"/>
            <a:ext cx="2971440" cy="3977280"/>
          </a:xfrm>
          <a:prstGeom prst="roundRect">
            <a:avLst>
              <a:gd name="adj" fmla="val 1846"/>
            </a:avLst>
          </a:prstGeom>
          <a:solidFill>
            <a:srgbClr val="e7f2f2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841320" y="15544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f2933"/>
                </a:solidFill>
                <a:latin typeface="Aptos"/>
              </a:rPr>
              <a:t>Mobile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987480" y="205740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1115640" y="214884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Kotlin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987480" y="253296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1115640" y="262440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Jetpack Compose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987480" y="300852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1115640" y="309996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Navigation Compose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987480" y="348372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1115640" y="357516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Retrofit / OkHttp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987480" y="395928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1115640" y="405072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Coroutines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4"/>
          <p:cNvSpPr/>
          <p:nvPr/>
        </p:nvSpPr>
        <p:spPr>
          <a:xfrm>
            <a:off x="987480" y="443484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1115640" y="452628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локальное состояние устройства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4087440" y="1316880"/>
            <a:ext cx="2971440" cy="3977280"/>
          </a:xfrm>
          <a:prstGeom prst="roundRect">
            <a:avLst>
              <a:gd name="adj" fmla="val 1846"/>
            </a:avLst>
          </a:prstGeom>
          <a:solidFill>
            <a:srgbClr val="eaf0fa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4270320" y="15544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f2933"/>
                </a:solidFill>
                <a:latin typeface="Aptos"/>
              </a:rPr>
              <a:t>Backend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4416480" y="205740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4544640" y="214884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Python 3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0"/>
          <p:cNvSpPr/>
          <p:nvPr/>
        </p:nvSpPr>
        <p:spPr>
          <a:xfrm>
            <a:off x="4416480" y="253296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1"/>
          <p:cNvSpPr/>
          <p:nvPr/>
        </p:nvSpPr>
        <p:spPr>
          <a:xfrm>
            <a:off x="4544640" y="262440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Django REST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2"/>
          <p:cNvSpPr/>
          <p:nvPr/>
        </p:nvSpPr>
        <p:spPr>
          <a:xfrm>
            <a:off x="4416480" y="300852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4544640" y="309996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MySQL / MariaDB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4"/>
          <p:cNvSpPr/>
          <p:nvPr/>
        </p:nvSpPr>
        <p:spPr>
          <a:xfrm>
            <a:off x="4416480" y="348372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5"/>
          <p:cNvSpPr/>
          <p:nvPr/>
        </p:nvSpPr>
        <p:spPr>
          <a:xfrm>
            <a:off x="4544640" y="357516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SQL / introspection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6"/>
          <p:cNvSpPr/>
          <p:nvPr/>
        </p:nvSpPr>
        <p:spPr>
          <a:xfrm>
            <a:off x="4416480" y="395928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7"/>
          <p:cNvSpPr/>
          <p:nvPr/>
        </p:nvSpPr>
        <p:spPr>
          <a:xfrm>
            <a:off x="4544640" y="405072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JSON-конфигурация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8"/>
          <p:cNvSpPr/>
          <p:nvPr/>
        </p:nvSpPr>
        <p:spPr>
          <a:xfrm>
            <a:off x="4416480" y="443484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9"/>
          <p:cNvSpPr/>
          <p:nvPr/>
        </p:nvSpPr>
        <p:spPr>
          <a:xfrm>
            <a:off x="4544640" y="452628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metadata-driven forms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0"/>
          <p:cNvSpPr/>
          <p:nvPr/>
        </p:nvSpPr>
        <p:spPr>
          <a:xfrm>
            <a:off x="7516440" y="1316880"/>
            <a:ext cx="2971440" cy="3977280"/>
          </a:xfrm>
          <a:prstGeom prst="roundRect">
            <a:avLst>
              <a:gd name="adj" fmla="val 1846"/>
            </a:avLst>
          </a:prstGeom>
          <a:solidFill>
            <a:srgbClr val="f5efe7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1"/>
          <p:cNvSpPr/>
          <p:nvPr/>
        </p:nvSpPr>
        <p:spPr>
          <a:xfrm>
            <a:off x="7699320" y="15544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f2933"/>
                </a:solidFill>
                <a:latin typeface="Aptos"/>
              </a:rPr>
              <a:t>Delivery / QA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2"/>
          <p:cNvSpPr/>
          <p:nvPr/>
        </p:nvSpPr>
        <p:spPr>
          <a:xfrm>
            <a:off x="7845480" y="205740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3"/>
          <p:cNvSpPr/>
          <p:nvPr/>
        </p:nvSpPr>
        <p:spPr>
          <a:xfrm>
            <a:off x="7973640" y="214884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Linux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4"/>
          <p:cNvSpPr/>
          <p:nvPr/>
        </p:nvSpPr>
        <p:spPr>
          <a:xfrm>
            <a:off x="7845480" y="253296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35"/>
          <p:cNvSpPr/>
          <p:nvPr/>
        </p:nvSpPr>
        <p:spPr>
          <a:xfrm>
            <a:off x="7973640" y="262440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Git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6"/>
          <p:cNvSpPr/>
          <p:nvPr/>
        </p:nvSpPr>
        <p:spPr>
          <a:xfrm>
            <a:off x="7845480" y="300852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7"/>
          <p:cNvSpPr/>
          <p:nvPr/>
        </p:nvSpPr>
        <p:spPr>
          <a:xfrm>
            <a:off x="7973640" y="309996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Postman / Insomnia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8"/>
          <p:cNvSpPr/>
          <p:nvPr/>
        </p:nvSpPr>
        <p:spPr>
          <a:xfrm>
            <a:off x="7845480" y="348372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9"/>
          <p:cNvSpPr/>
          <p:nvPr/>
        </p:nvSpPr>
        <p:spPr>
          <a:xfrm>
            <a:off x="7973640" y="357516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request-id и diagnostic logging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0"/>
          <p:cNvSpPr/>
          <p:nvPr/>
        </p:nvSpPr>
        <p:spPr>
          <a:xfrm>
            <a:off x="7845480" y="395928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1"/>
          <p:cNvSpPr/>
          <p:nvPr/>
        </p:nvSpPr>
        <p:spPr>
          <a:xfrm>
            <a:off x="7973640" y="405072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user / developer guides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2"/>
          <p:cNvSpPr/>
          <p:nvPr/>
        </p:nvSpPr>
        <p:spPr>
          <a:xfrm>
            <a:off x="7845480" y="4434840"/>
            <a:ext cx="2313000" cy="383760"/>
          </a:xfrm>
          <a:prstGeom prst="roundRect">
            <a:avLst>
              <a:gd name="adj" fmla="val 952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e0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3"/>
          <p:cNvSpPr/>
          <p:nvPr/>
        </p:nvSpPr>
        <p:spPr>
          <a:xfrm>
            <a:off x="7973640" y="452628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ручная проверка совместимости с МИС</a:t>
            </a:r>
            <a:endParaRPr b="0" lang="ru-RU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4"/>
          <p:cNvSpPr/>
          <p:nvPr/>
        </p:nvSpPr>
        <p:spPr>
          <a:xfrm>
            <a:off x="658440" y="5596200"/>
            <a:ext cx="9829440" cy="4935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5"/>
          <p:cNvSpPr/>
          <p:nvPr/>
        </p:nvSpPr>
        <p:spPr>
          <a:xfrm>
            <a:off x="914400" y="5769720"/>
            <a:ext cx="930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1c6c70"/>
                </a:solidFill>
                <a:latin typeface="Aptos"/>
              </a:rPr>
              <a:t>Качество: проверка SQL-совместимости со штатным клиентом, тестовые Action/Event, логирование ошибок, контроль схемы и документация сценариев.</a:t>
            </a:r>
            <a:endParaRPr b="0" lang="ru-RU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sldNum" idx="14"/>
          </p:nvPr>
        </p:nvSpPr>
        <p:spPr>
          <a:xfrm>
            <a:off x="11700000" y="6480000"/>
            <a:ext cx="433080" cy="17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F4848D-66C8-4792-B2DB-7F94875B1D1F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567000" y="3290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3"/>
                </a:solidFill>
                <a:latin typeface="Aptos Display"/>
                <a:ea typeface="Aptos Display"/>
              </a:rPr>
              <a:t>Ключевые компетенции на проекте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567000" y="74988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4808b"/>
                </a:solidFill>
                <a:latin typeface="Aptos"/>
                <a:ea typeface="Aptos"/>
              </a:rPr>
              <a:t>Полный цикл: анализ процесса → архитектура → разработка → интеграция → тестирование → документация.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"/>
          <p:cNvSpPr/>
          <p:nvPr/>
        </p:nvSpPr>
        <p:spPr>
          <a:xfrm>
            <a:off x="713160" y="1325880"/>
            <a:ext cx="3053880" cy="144432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914400" y="15087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6c70"/>
                </a:solidFill>
                <a:latin typeface="Aptos"/>
              </a:rPr>
              <a:t>01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1353240" y="14997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40" spc="-1" strike="noStrike">
                <a:solidFill>
                  <a:srgbClr val="1f2933"/>
                </a:solidFill>
                <a:latin typeface="Aptos"/>
              </a:rPr>
              <a:t>Анализ процессов</a:t>
            </a:r>
            <a:endParaRPr b="0" lang="ru-RU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914400" y="1947600"/>
            <a:ext cx="263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Aptos"/>
              </a:rPr>
              <a:t>Разбор логики МИС, пользовательских сценариев врача и требований к данным.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6"/>
          <p:cNvSpPr/>
          <p:nvPr/>
        </p:nvSpPr>
        <p:spPr>
          <a:xfrm>
            <a:off x="4087440" y="1325880"/>
            <a:ext cx="3053880" cy="144432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4288680" y="15087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977a4"/>
                </a:solidFill>
                <a:latin typeface="Aptos"/>
              </a:rPr>
              <a:t>02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4727520" y="14997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40" spc="-1" strike="noStrike">
                <a:solidFill>
                  <a:srgbClr val="1f2933"/>
                </a:solidFill>
                <a:latin typeface="Aptos"/>
              </a:rPr>
              <a:t>Full-stack архитектура</a:t>
            </a:r>
            <a:endParaRPr b="0" lang="ru-RU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4288680" y="1947600"/>
            <a:ext cx="263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Aptos"/>
              </a:rPr>
              <a:t>Android-клиент + Django REST backend + legacy-БД и внутренние сервисы.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0"/>
          <p:cNvSpPr/>
          <p:nvPr/>
        </p:nvSpPr>
        <p:spPr>
          <a:xfrm>
            <a:off x="7461360" y="1325880"/>
            <a:ext cx="3053880" cy="144432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7662600" y="150876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97842"/>
                </a:solidFill>
                <a:latin typeface="Aptos"/>
              </a:rPr>
              <a:t>03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8101440" y="14997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40" spc="-1" strike="noStrike">
                <a:solidFill>
                  <a:srgbClr val="1f2933"/>
                </a:solidFill>
                <a:latin typeface="Aptos"/>
              </a:rPr>
              <a:t>Интеграция с legacy</a:t>
            </a:r>
            <a:endParaRPr b="0" lang="ru-RU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7662600" y="1947600"/>
            <a:ext cx="263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Aptos"/>
              </a:rPr>
              <a:t>Action / Event / ActionProperty, справочники, представления и разные редакции схемы.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4"/>
          <p:cNvSpPr/>
          <p:nvPr/>
        </p:nvSpPr>
        <p:spPr>
          <a:xfrm>
            <a:off x="713160" y="3182040"/>
            <a:ext cx="3053880" cy="144432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5"/>
          <p:cNvSpPr/>
          <p:nvPr/>
        </p:nvSpPr>
        <p:spPr>
          <a:xfrm>
            <a:off x="914400" y="33649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f8768"/>
                </a:solidFill>
                <a:latin typeface="Aptos"/>
              </a:rPr>
              <a:t>04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6"/>
          <p:cNvSpPr/>
          <p:nvPr/>
        </p:nvSpPr>
        <p:spPr>
          <a:xfrm>
            <a:off x="1353240" y="335592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40" spc="-1" strike="noStrike">
                <a:solidFill>
                  <a:srgbClr val="1f2933"/>
                </a:solidFill>
                <a:latin typeface="Aptos"/>
              </a:rPr>
              <a:t>Metadata-driven UI</a:t>
            </a:r>
            <a:endParaRPr b="0" lang="ru-RU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914400" y="3803760"/>
            <a:ext cx="263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Aptos"/>
              </a:rPr>
              <a:t>Динамические формы, Constructor, ReferenceColumns и специализированные типы.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8"/>
          <p:cNvSpPr/>
          <p:nvPr/>
        </p:nvSpPr>
        <p:spPr>
          <a:xfrm>
            <a:off x="4087440" y="3182040"/>
            <a:ext cx="3053880" cy="144432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9"/>
          <p:cNvSpPr/>
          <p:nvPr/>
        </p:nvSpPr>
        <p:spPr>
          <a:xfrm>
            <a:off x="4288680" y="33649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a628c"/>
                </a:solidFill>
                <a:latin typeface="Aptos"/>
              </a:rPr>
              <a:t>05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0"/>
          <p:cNvSpPr/>
          <p:nvPr/>
        </p:nvSpPr>
        <p:spPr>
          <a:xfrm>
            <a:off x="4727520" y="335592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40" spc="-1" strike="noStrike">
                <a:solidFill>
                  <a:srgbClr val="1f2933"/>
                </a:solidFill>
                <a:latin typeface="Aptos"/>
              </a:rPr>
              <a:t>UX/UI и offline-state</a:t>
            </a:r>
            <a:endParaRPr b="0" lang="ru-RU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21"/>
          <p:cNvSpPr/>
          <p:nvPr/>
        </p:nvSpPr>
        <p:spPr>
          <a:xfrm>
            <a:off x="4288680" y="3803760"/>
            <a:ext cx="263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Aptos"/>
              </a:rPr>
              <a:t>Material 3, темы, локальные черновики, избранное, шаблоны и восстановление состояния.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2"/>
          <p:cNvSpPr/>
          <p:nvPr/>
        </p:nvSpPr>
        <p:spPr>
          <a:xfrm>
            <a:off x="7461360" y="3182040"/>
            <a:ext cx="3053880" cy="144432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3"/>
          <p:cNvSpPr/>
          <p:nvPr/>
        </p:nvSpPr>
        <p:spPr>
          <a:xfrm>
            <a:off x="7662600" y="3364920"/>
            <a:ext cx="383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45e5e"/>
                </a:solidFill>
                <a:latin typeface="Aptos"/>
              </a:rPr>
              <a:t>06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4"/>
          <p:cNvSpPr/>
          <p:nvPr/>
        </p:nvSpPr>
        <p:spPr>
          <a:xfrm>
            <a:off x="8101440" y="335592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40" spc="-1" strike="noStrike">
                <a:solidFill>
                  <a:srgbClr val="1f2933"/>
                </a:solidFill>
                <a:latin typeface="Aptos"/>
              </a:rPr>
              <a:t>Отладка и сопровождение</a:t>
            </a:r>
            <a:endParaRPr b="0" lang="ru-RU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5"/>
          <p:cNvSpPr/>
          <p:nvPr/>
        </p:nvSpPr>
        <p:spPr>
          <a:xfrm>
            <a:off x="7662600" y="3803760"/>
            <a:ext cx="263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Aptos"/>
              </a:rPr>
              <a:t>SQL-трассировка, request-id, диагностика интеграций, конфиги, user/dev документация.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6"/>
          <p:cNvSpPr/>
          <p:nvPr/>
        </p:nvSpPr>
        <p:spPr>
          <a:xfrm>
            <a:off x="713160" y="5193720"/>
            <a:ext cx="9802080" cy="566640"/>
          </a:xfrm>
          <a:prstGeom prst="roundRect">
            <a:avLst>
              <a:gd name="adj" fmla="val 9677"/>
            </a:avLst>
          </a:prstGeom>
          <a:solidFill>
            <a:srgbClr val="155d62"/>
          </a:solidFill>
          <a:ln w="12700">
            <a:solidFill>
              <a:srgbClr val="155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27"/>
          <p:cNvSpPr/>
          <p:nvPr/>
        </p:nvSpPr>
        <p:spPr>
          <a:xfrm>
            <a:off x="987480" y="5385960"/>
            <a:ext cx="9253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pc="-1" strike="noStrike">
                <a:solidFill>
                  <a:srgbClr val="ffffff"/>
                </a:solidFill>
                <a:latin typeface="Aptos"/>
              </a:rPr>
              <a:t>Результат: рабочий мобильный интерфейс для клинических процессов, интегрированный с существующей МИС и адаптированный к ограничениям закрытого контура.</a:t>
            </a:r>
            <a:endParaRPr b="0" lang="ru-RU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8"/>
          <p:cNvSpPr/>
          <p:nvPr/>
        </p:nvSpPr>
        <p:spPr>
          <a:xfrm>
            <a:off x="10716840" y="5623560"/>
            <a:ext cx="78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c6c70"/>
                </a:solidFill>
                <a:latin typeface="Aptos"/>
              </a:rPr>
              <a:t>SAMSON Hospital</a:t>
            </a:r>
            <a:endParaRPr b="0" lang="ru-RU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Num" idx="15"/>
          </p:nvPr>
        </p:nvSpPr>
        <p:spPr>
          <a:xfrm>
            <a:off x="11759040" y="6480000"/>
            <a:ext cx="433080" cy="17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a1a8ae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A47704D-9B77-481A-ADB6-0254C80EC0F5}" type="slidenum">
              <a:rPr b="0" lang="en-US" sz="800" spc="-1" strike="noStrike">
                <a:solidFill>
                  <a:srgbClr val="a1a8ae"/>
                </a:solidFill>
                <a:latin typeface="Aptos"/>
                <a:ea typeface="Aptos"/>
              </a:rPr>
              <a:t>&lt;номер&gt;</a:t>
            </a:fld>
            <a:endParaRPr b="0" lang="ru-RU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LibreOffice/24.2.2.2$Windows_X86_64 LibreOffice_project/d56cc158d8a96260b836f100ef4b4ef25d6f1a01</Application>
  <AppVersion>15.0000</AppVersion>
  <Words>0</Words>
  <Paragraphs>0</Paragraphs>
  <Company>Portfolio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2026-10-19T06:05:03Z</dcterms:created>
  <dc:creator>Portfolio</dc:creator>
  <dc:description/>
  <dc:language>ru-RU</dc:language>
  <cp:lastModifiedBy/>
  <dcterms:modified xsi:type="dcterms:W3CDTF">2026-10-19T09:47:04Z</dcterms:modified>
  <cp:revision>3</cp:revision>
  <dc:subject>SAMSON Hospital — mobile workplace for hospital physician</dc:subject>
  <dc:title>SAMSON Hospital — Portfolio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